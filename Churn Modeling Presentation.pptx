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3" r:id="rId6"/>
    <p:sldId id="260" r:id="rId7"/>
  </p:sldIdLst>
  <p:sldSz cx="12192000" cy="6858000"/>
  <p:notesSz cx="6858000" cy="9144000"/>
  <p:embeddedFontLst>
    <p:embeddedFont>
      <p:font typeface="Urbanist" panose="020B0604020202020204" charset="0"/>
      <p:regular r:id="rId9"/>
      <p:bold r:id="rId10"/>
      <p:italic r:id="rId11"/>
      <p:boldItalic r:id="rId12"/>
    </p:embeddedFont>
    <p:embeddedFont>
      <p:font typeface="Urbanist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0CD4577F-AF9F-4185-80C3-190459D98AAF}">
          <p14:sldIdLst>
            <p14:sldId id="256"/>
            <p14:sldId id="257"/>
            <p14:sldId id="258"/>
            <p14:sldId id="262"/>
            <p14:sldId id="263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D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0" y="4507110"/>
            <a:ext cx="2857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45393" y="2312640"/>
            <a:ext cx="9701212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8FAFC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Prédiction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 de l’</a:t>
            </a:r>
            <a:r>
              <a:rPr lang="en-GB" sz="5400" b="1" i="0" u="none" strike="noStrike" dirty="0">
                <a:solidFill>
                  <a:srgbClr val="2DD4BF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Attrition Client</a:t>
            </a:r>
            <a:endParaRPr lang="en-US" sz="1200" dirty="0">
              <a:solidFill>
                <a:srgbClr val="2DD4BF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728912" y="3341340"/>
            <a:ext cx="67341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Architecture de modélisation et stratégies d'optimisation par Machine Learning.</a:t>
            </a: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06AB7595-AB82-6A10-1A40-B812AA38B747}"/>
              </a:ext>
            </a:extLst>
          </p:cNvPr>
          <p:cNvSpPr txBox="1"/>
          <p:nvPr/>
        </p:nvSpPr>
        <p:spPr>
          <a:xfrm>
            <a:off x="2728911" y="4820769"/>
            <a:ext cx="67341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Réalisé Par : </a:t>
            </a:r>
            <a:r>
              <a:rPr lang="fr-FR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Rejeb</a:t>
            </a:r>
            <a:r>
              <a:rPr lang="fr-FR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Seifeddine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8118"/>
            <a:ext cx="34861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28118"/>
            <a:ext cx="34861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28118"/>
            <a:ext cx="348615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23925" y="3452068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Nettoyage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923925" y="3966418"/>
            <a:ext cx="28003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Suppression des variables non-prédictives (</a:t>
            </a:r>
            <a:r>
              <a:rPr lang="fr-FR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CustomerId</a:t>
            </a: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). 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4695825" y="3452068"/>
            <a:ext cx="294036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Partitionnement</a:t>
            </a:r>
            <a:endParaRPr lang="en-US" sz="2100" b="0" i="0" u="none" strike="noStrike" cap="none" dirty="0">
              <a:solidFill>
                <a:srgbClr val="38BDF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4695825" y="3966418"/>
            <a:ext cx="28003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Répartition 80% (Entraînement) / 20% (Test). Utilisation de </a:t>
            </a:r>
            <a:r>
              <a:rPr lang="fr-FR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random_state</a:t>
            </a: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=42 pour garantir la reproductibilité.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8467725" y="3452068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Normalisation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467725" y="3966418"/>
            <a:ext cx="28003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Application du </a:t>
            </a:r>
            <a:r>
              <a:rPr lang="fr-FR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StandardScaler</a:t>
            </a: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Étape cruciale pour les modèles sensibles à l'échelle comme SVM et MLP.</a:t>
            </a: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709118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709118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709118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Prétraitement</a:t>
            </a:r>
            <a:r>
              <a:rPr lang="en-US" sz="31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Des Données</a:t>
            </a:r>
          </a:p>
        </p:txBody>
      </p:sp>
      <p:sp>
        <p:nvSpPr>
          <p:cNvPr id="106" name="Google Shape;106;p14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79835"/>
            <a:ext cx="11029950" cy="449713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5257055"/>
            <a:ext cx="11029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Random Forest </a:t>
            </a:r>
            <a:r>
              <a:rPr lang="fr-FR" sz="1500" b="0" i="1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surpassent les approches linéaires simples dès le départ</a:t>
            </a:r>
            <a:r>
              <a:rPr lang="en-US" sz="1500" b="0" i="1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Comparaison</a:t>
            </a:r>
            <a:r>
              <a:rPr lang="en-US" sz="31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Des Performances</a:t>
            </a:r>
          </a:p>
        </p:txBody>
      </p:sp>
      <p:sp>
        <p:nvSpPr>
          <p:cNvPr id="115" name="Google Shape;115;p15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77181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689723"/>
            <a:ext cx="5229225" cy="15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81025" y="1949945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Capture des Interactions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2540495"/>
            <a:ext cx="5229225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Utilisation de </a:t>
            </a: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PolynomialFeatures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(Degré 3) pour capturer les relations non-linéaires et les interactions complexes entre les variables du dataset.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1986706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828675" y="4937373"/>
            <a:ext cx="47339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 sur la performance (LogReg) 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28675" y="5398293"/>
            <a:ext cx="47339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81,45 % </a:t>
            </a:r>
            <a:r>
              <a:rPr lang="en-US" sz="27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r>
              <a:rPr lang="en-US" sz="27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 85,85 %</a:t>
            </a:r>
            <a:endParaRPr/>
          </a:p>
        </p:txBody>
      </p:sp>
      <p:sp>
        <p:nvSpPr>
          <p:cNvPr id="2" name="Google Shape;114;p15">
            <a:extLst>
              <a:ext uri="{FF2B5EF4-FFF2-40B4-BE49-F238E27FC236}">
                <a16:creationId xmlns:a16="http://schemas.microsoft.com/office/drawing/2014/main" id="{9A482F66-0061-0B91-D0BA-3B7BC27AF49A}"/>
              </a:ext>
            </a:extLst>
          </p:cNvPr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Ingénierie</a:t>
            </a:r>
            <a:r>
              <a:rPr lang="en-US" sz="31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Des </a:t>
            </a:r>
            <a:r>
              <a:rPr lang="en-US" sz="3150" b="0" i="0" u="none" strike="noStrike" cap="none" dirty="0" err="1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Caractéristiques</a:t>
            </a:r>
            <a:endParaRPr lang="en-US" sz="3150" b="0" i="0" u="none" strike="noStrike" cap="none" dirty="0">
              <a:solidFill>
                <a:srgbClr val="F8FAFC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" name="Google Shape;115;p15">
            <a:extLst>
              <a:ext uri="{FF2B5EF4-FFF2-40B4-BE49-F238E27FC236}">
                <a16:creationId xmlns:a16="http://schemas.microsoft.com/office/drawing/2014/main" id="{C02F8E66-7243-0B6F-1D79-8531BBCC0D83}"/>
              </a:ext>
            </a:extLst>
          </p:cNvPr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009650" y="2101003"/>
            <a:ext cx="45148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Optimisation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XGBoost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Utilisation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GridSearchCV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pour identifier la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combinaison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optimale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paramètres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009650" y="3483765"/>
            <a:ext cx="45148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Paramètres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Clés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Itération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sur </a:t>
            </a:r>
            <a:r>
              <a:rPr lang="en-US" sz="180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max_depth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learning_rate</a:t>
            </a:r>
            <a:r>
              <a:rPr lang="en-US" sz="18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et </a:t>
            </a:r>
            <a:r>
              <a:rPr lang="en-US" sz="18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subsample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09650" y="4866527"/>
            <a:ext cx="451485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Validation Croisée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Une approche CV=5 a été appliquée pour garantir une généralisation robuste sur les données invisibles.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0100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48376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86652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25;p16" descr="image.png">
            <a:extLst>
              <a:ext uri="{FF2B5EF4-FFF2-40B4-BE49-F238E27FC236}">
                <a16:creationId xmlns:a16="http://schemas.microsoft.com/office/drawing/2014/main" id="{C2D05504-A48B-0459-1764-1037E7B8F91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9797" y="2018512"/>
            <a:ext cx="5851178" cy="42187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5">
            <a:extLst>
              <a:ext uri="{FF2B5EF4-FFF2-40B4-BE49-F238E27FC236}">
                <a16:creationId xmlns:a16="http://schemas.microsoft.com/office/drawing/2014/main" id="{31A91776-160F-3F39-8B3F-5A75CE098F8A}"/>
              </a:ext>
            </a:extLst>
          </p:cNvPr>
          <p:cNvSpPr txBox="1"/>
          <p:nvPr/>
        </p:nvSpPr>
        <p:spPr>
          <a:xfrm>
            <a:off x="771525" y="913060"/>
            <a:ext cx="559977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Réglage</a:t>
            </a:r>
            <a:r>
              <a:rPr lang="en-US" sz="31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Des </a:t>
            </a:r>
            <a:r>
              <a:rPr lang="en-US" sz="3150" b="0" i="0" u="none" strike="noStrike" cap="none" dirty="0" err="1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Hyperparamètres</a:t>
            </a:r>
            <a:endParaRPr lang="en-US" sz="3150" b="0" i="0" u="none" strike="noStrike" cap="none" dirty="0">
              <a:solidFill>
                <a:srgbClr val="F8FAFC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4" name="Google Shape;115;p15">
            <a:extLst>
              <a:ext uri="{FF2B5EF4-FFF2-40B4-BE49-F238E27FC236}">
                <a16:creationId xmlns:a16="http://schemas.microsoft.com/office/drawing/2014/main" id="{A346F3F0-F402-FE03-7146-35939A57616A}"/>
              </a:ext>
            </a:extLst>
          </p:cNvPr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12740"/>
            <a:ext cx="53721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112740"/>
            <a:ext cx="53721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305276" y="1055340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Conclusion &amp; Perspectives</a:t>
            </a:r>
          </a:p>
        </p:txBody>
      </p:sp>
      <p:sp>
        <p:nvSpPr>
          <p:cNvPr id="142" name="Google Shape;142;p17"/>
          <p:cNvSpPr txBox="1"/>
          <p:nvPr/>
        </p:nvSpPr>
        <p:spPr>
          <a:xfrm>
            <a:off x="2286000" y="1931640"/>
            <a:ext cx="7620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Nous avons atteint une précision cible de ~86%. Pour industrialiser ce modèle, les étapes suivantes sont prioritaires :</a:t>
            </a:r>
          </a:p>
        </p:txBody>
      </p:sp>
      <p:sp>
        <p:nvSpPr>
          <p:cNvPr id="144" name="Google Shape;144;p17"/>
          <p:cNvSpPr txBox="1"/>
          <p:nvPr/>
        </p:nvSpPr>
        <p:spPr>
          <a:xfrm>
            <a:off x="954405" y="3575670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Équilibrer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les données :</a:t>
            </a:r>
            <a:endParaRPr lang="en-US"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954405" y="4090020"/>
            <a:ext cx="46863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Utiliser une technique comme le sur-échantillonnage (</a:t>
            </a:r>
            <a:r>
              <a:rPr lang="fr-FR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SMOTE</a:t>
            </a: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en-US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6612255" y="3575670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Interprétabilité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6612255" y="4090020"/>
            <a:ext cx="46863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Intégrer les valeurs </a:t>
            </a:r>
            <a:r>
              <a:rPr lang="fr-FR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SHAP</a:t>
            </a:r>
            <a:r>
              <a:rPr lang="fr-FR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pour expliquer chaque prédiction individuelle aux conseillers bancaires.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 a</cp:lastModifiedBy>
  <cp:revision>1</cp:revision>
  <dcterms:modified xsi:type="dcterms:W3CDTF">2026-05-02T14:16:35Z</dcterms:modified>
</cp:coreProperties>
</file>